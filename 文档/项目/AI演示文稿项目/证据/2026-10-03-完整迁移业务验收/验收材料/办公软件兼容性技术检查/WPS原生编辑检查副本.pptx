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05 A</c:v>
                </c:pt>
              </c:strCache>
            </c:strRef>
          </c:tx>
          <c:spPr>
            <a:solidFill>
              <a:srgbClr val="B4432B"/>
            </a:solidFill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116.25</c:v>
                </c:pt>
                <c:pt idx="1">
                  <c:v>27.5</c:v>
                </c:pt>
                <c:pt idx="2">
                  <c:v>38.75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05 B</c:v>
                </c:pt>
              </c:strCache>
            </c:strRef>
          </c:tx>
          <c:spPr>
            <a:solidFill>
              <a:srgbClr val="3F6B5E"/>
            </a:solidFill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20</c:v>
                </c:pt>
                <c:pt idx="2">
                  <c:v>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E2DCD0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8A8478"/>
                    </a:solidFill>
                    <a:latin typeface="Arial" panose="020B0604020202020204"/>
                    <a:ea typeface="微软雅黑" panose="020B0503020204020204" charset="-122"/>
                    <a:cs typeface="+mn-cs"/>
                  </a:defRPr>
                </a:pPr>
                <a:r>
                  <a:rPr sz="1100" b="0" i="0">
                    <a:solidFill>
                      <a:srgbClr val="8A8478"/>
                    </a:solidFill>
                    <a:latin typeface="Arial" panose="020B0604020202020204"/>
                    <a:ea typeface="微软雅黑" panose="020B0503020204020204" charset="-122"/>
                  </a:rPr>
                  <a:t>件</a:t>
                </a:r>
                <a:endParaRPr sz="1100" b="0" i="0">
                  <a:solidFill>
                    <a:srgbClr val="8A8478"/>
                  </a:solidFill>
                  <a:latin typeface="Arial" panose="020B0604020202020204"/>
                  <a:ea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spPr>
        <a:noFill/>
        <a:ln>
          <a:noFill/>
        </a:ln>
      </c:spPr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rgbClr val="8A8478"/>
              </a:solidFill>
              <a:latin typeface="Arial" panose="020B0604020202020204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fd94a6b-6fc3-4ea1-8b76-353ac9ad9dd7}"/>
      </c:ext>
    </c:extLst>
  </c:chart>
  <c:spPr>
    <a:noFill/>
    <a:ln>
      <a:noFill/>
    </a:ln>
  </c:spPr>
  <c:txPr>
    <a:bodyPr/>
    <a:lstStyle/>
    <a:p>
      <a:pPr>
        <a:defRPr lang="zh-CN" sz="1100" b="0" i="0">
          <a:solidFill>
            <a:srgbClr val="8A8478"/>
          </a:solidFill>
          <a:latin typeface="Arial" panose="020B0604020202020204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16 A</c:v>
                </c:pt>
              </c:strCache>
            </c:strRef>
          </c:tx>
          <c:spPr>
            <a:solidFill>
              <a:srgbClr val="B4432B"/>
            </a:solidFill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27.25</c:v>
                </c:pt>
                <c:pt idx="1">
                  <c:v>38.5</c:v>
                </c:pt>
                <c:pt idx="2">
                  <c:v>49.75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16 B</c:v>
                </c:pt>
              </c:strCache>
            </c:strRef>
          </c:tx>
          <c:spPr>
            <a:solidFill>
              <a:srgbClr val="3F6B5E"/>
            </a:solidFill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31</c:v>
                </c:pt>
                <c:pt idx="2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2DCD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8A8478"/>
                    </a:solidFill>
                    <a:latin typeface="Arial" panose="020B0604020202020204"/>
                    <a:ea typeface="微软雅黑" panose="020B0503020204020204" charset="-122"/>
                    <a:cs typeface="+mn-cs"/>
                  </a:defRPr>
                </a:pPr>
                <a:r>
                  <a:rPr sz="1100" b="0" i="0">
                    <a:solidFill>
                      <a:srgbClr val="8A8478"/>
                    </a:solidFill>
                    <a:latin typeface="Arial" panose="020B0604020202020204"/>
                    <a:ea typeface="微软雅黑" panose="020B0503020204020204" charset="-122"/>
                  </a:rPr>
                  <a:t>件</a:t>
                </a:r>
                <a:endParaRPr sz="1100" b="0" i="0">
                  <a:solidFill>
                    <a:srgbClr val="8A8478"/>
                  </a:solidFill>
                  <a:latin typeface="Arial" panose="020B0604020202020204"/>
                  <a:ea typeface="微软雅黑" panose="020B0503020204020204" charset="-122"/>
                </a:endParaRP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spPr>
        <a:noFill/>
        <a:ln>
          <a:noFill/>
        </a:ln>
      </c:spPr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rgbClr val="8A8478"/>
              </a:solidFill>
              <a:latin typeface="Arial" panose="020B0604020202020204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0e391f2-a276-4946-a5de-78113077a4b9}"/>
      </c:ext>
    </c:extLst>
  </c:chart>
  <c:spPr>
    <a:noFill/>
    <a:ln>
      <a:noFill/>
    </a:ln>
  </c:spPr>
  <c:txPr>
    <a:bodyPr/>
    <a:lstStyle/>
    <a:p>
      <a:pPr>
        <a:defRPr lang="zh-CN" sz="1100" b="0" i="0">
          <a:solidFill>
            <a:srgbClr val="8A8478"/>
          </a:solidFill>
          <a:latin typeface="Arial" panose="020B0604020202020204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27 A</c:v>
                </c:pt>
              </c:strCache>
            </c:strRef>
          </c:tx>
          <c:spPr>
            <a:ln w="28575" cap="rnd" cmpd="sng" algn="ctr">
              <a:solidFill>
                <a:srgbClr val="B443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38.25</c:v>
                </c:pt>
                <c:pt idx="1">
                  <c:v>49.5</c:v>
                </c:pt>
                <c:pt idx="2">
                  <c:v>60.75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27 B</c:v>
                </c:pt>
              </c:strCache>
            </c:strRef>
          </c:tx>
          <c:spPr>
            <a:ln w="28575" cap="rnd" cmpd="sng" algn="ctr">
              <a:solidFill>
                <a:srgbClr val="3F6B5E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42</c:v>
                </c:pt>
                <c:pt idx="2">
                  <c:v>46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2DCD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8A8478"/>
                    </a:solidFill>
                    <a:latin typeface="Arial" panose="020B0604020202020204"/>
                    <a:ea typeface="微软雅黑" panose="020B0503020204020204" charset="-122"/>
                    <a:cs typeface="+mn-cs"/>
                  </a:defRPr>
                </a:pPr>
                <a:r>
                  <a:rPr sz="1100" b="0" i="0">
                    <a:solidFill>
                      <a:srgbClr val="8A8478"/>
                    </a:solidFill>
                    <a:latin typeface="Arial" panose="020B0604020202020204"/>
                    <a:ea typeface="微软雅黑" panose="020B0503020204020204" charset="-122"/>
                  </a:rPr>
                  <a:t>件</a:t>
                </a:r>
                <a:endParaRPr sz="1100" b="0" i="0">
                  <a:solidFill>
                    <a:srgbClr val="8A8478"/>
                  </a:solidFill>
                  <a:latin typeface="Arial" panose="020B0604020202020204"/>
                  <a:ea typeface="微软雅黑" panose="020B0503020204020204" charset="-122"/>
                </a:endParaRP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</a:p>
        </c:txPr>
        <c:crossAx val="2118791784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spPr>
        <a:noFill/>
        <a:ln>
          <a:noFill/>
        </a:ln>
      </c:spPr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rgbClr val="8A8478"/>
              </a:solidFill>
              <a:latin typeface="Arial" panose="020B0604020202020204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295548-3f0c-4836-bd83-815bf00eb183}"/>
      </c:ext>
    </c:extLst>
  </c:chart>
  <c:spPr>
    <a:noFill/>
    <a:ln>
      <a:noFill/>
    </a:ln>
  </c:spPr>
  <c:txPr>
    <a:bodyPr/>
    <a:lstStyle/>
    <a:p>
      <a:pPr>
        <a:defRPr lang="zh-CN" sz="1100" b="0" i="0">
          <a:solidFill>
            <a:srgbClr val="8A8478"/>
          </a:solidFill>
          <a:latin typeface="Arial" panose="020B0604020202020204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38 A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B4432B"/>
              </a:solidFill>
            </c:spPr>
          </c:dPt>
          <c:dPt>
            <c:idx val="1"/>
            <c:bubble3D val="0"/>
            <c:spPr>
              <a:solidFill>
                <a:srgbClr val="3F6B5E"/>
              </a:solidFill>
            </c:spPr>
          </c:dPt>
          <c:dPt>
            <c:idx val="2"/>
            <c:bubble3D val="0"/>
            <c:spPr>
              <a:solidFill>
                <a:srgbClr val="C08A2E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8A8478"/>
                    </a:solidFill>
                    <a:latin typeface="Arial" panose="020B0604020202020204"/>
                    <a:ea typeface="微软雅黑" panose="020B0503020204020204" charset="-122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甲A</c:v>
                </c:pt>
                <c:pt idx="1">
                  <c:v>乙B</c:v>
                </c:pt>
                <c:pt idx="2">
                  <c:v>丙C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49.25</c:v>
                </c:pt>
                <c:pt idx="1">
                  <c:v>60.5</c:v>
                </c:pt>
                <c:pt idx="2">
                  <c:v>71.75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d19af61-0544-4d8a-b375-ca7c04924732}"/>
      </c:ext>
    </c:extLst>
  </c:chart>
  <c:spPr>
    <a:noFill/>
    <a:ln>
      <a:noFill/>
    </a:ln>
  </c:spPr>
  <c:txPr>
    <a:bodyPr/>
    <a:lstStyle/>
    <a:p>
      <a:pPr>
        <a:defRPr lang="zh-CN" sz="1100" b="0" i="0">
          <a:solidFill>
            <a:srgbClr val="8A8478"/>
          </a:solidFill>
          <a:latin typeface="Arial" panose="020B0604020202020204"/>
          <a:ea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验收第01页独立备注。</a:t>
            </a:r>
          </a:p>
          <a:p>
            <a:r>
              <a:t>Speaker note 01: preserve editable objects.</a:t>
            </a:r>
          </a:p>
          <a:p>
            <a:r>
              <a:t>中文、English、emoji 🙂🚀；仅离线样本，未执行业务验收。</a:t>
            </a:r>
          </a:p>
          <a:p>
            <a:r>
              <a:rPr lang="en-US" altLang="zh-CN"/>
              <a:t>Office</a:t>
            </a:r>
            <a:r>
              <a:rPr lang="zh-CN" altLang="en-US"/>
              <a:t>备注核对01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验收第02页独立备注。</a:t>
            </a:r>
          </a:p>
          <a:p>
            <a:r>
              <a:t>Speaker note 02: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验收第03页独立备注。</a:t>
            </a:r>
          </a:p>
          <a:p>
            <a:r>
              <a:t>Speaker note 03: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验收第04页独立备注。</a:t>
            </a:r>
          </a:p>
          <a:p>
            <a:r>
              <a:t>Speaker note 04: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验收第05页独立备注。</a:t>
            </a:r>
          </a:p>
          <a:p>
            <a:r>
              <a:t>Speaker note 05: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验收第06页独立备注。</a:t>
            </a:r>
          </a:p>
          <a:p>
            <a:r>
              <a:t>Speaker note 06: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验收第07页独立备注。</a:t>
            </a:r>
          </a:p>
          <a:p>
            <a:r>
              <a:t>Speaker note 07: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验收第08页独立备注。</a:t>
            </a:r>
          </a:p>
          <a:p>
            <a:r>
              <a:t>Speaker note 08: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验收第09页独立备注。</a:t>
            </a:r>
          </a:p>
          <a:p>
            <a:r>
              <a:t>Speaker note 09: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验收第10页独立备注。</a:t>
            </a:r>
          </a:p>
          <a:p>
            <a:r>
              <a:t>Speaker note 10: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验收第11页独立备注。</a:t>
            </a:r>
          </a:p>
          <a:p>
            <a:r>
              <a:t>Speaker note 11: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验收第12页独立备注。</a:t>
            </a:r>
          </a:p>
          <a:p>
            <a:r>
              <a:t>Speaker note 12: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验收第13页独立备注。</a:t>
            </a:r>
          </a:p>
          <a:p>
            <a:r>
              <a:t>Speaker note 13: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验收第14页独立备注。</a:t>
            </a:r>
          </a:p>
          <a:p>
            <a:r>
              <a:t>Speaker note 14: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验收第15页独立备注。</a:t>
            </a:r>
          </a:p>
          <a:p>
            <a:r>
              <a:t>Speaker note 15: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验收第16页独立备注。</a:t>
            </a:r>
          </a:p>
          <a:p>
            <a:r>
              <a:t>Speaker note 16: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验收第17页独立备注。</a:t>
            </a:r>
          </a:p>
          <a:p>
            <a:r>
              <a:t>Speaker note 17: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验收第18页独立备注。</a:t>
            </a:r>
          </a:p>
          <a:p>
            <a:r>
              <a:t>Speaker note 18: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验收第19页独立备注。</a:t>
            </a:r>
          </a:p>
          <a:p>
            <a:r>
              <a:t>Speaker note 19: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验收第20页独立备注。</a:t>
            </a:r>
          </a:p>
          <a:p>
            <a:r>
              <a:t>Speaker note 20: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验收第21页独立备注。</a:t>
            </a:r>
          </a:p>
          <a:p>
            <a:r>
              <a:t>Speaker note 21: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验收第22页独立备注。</a:t>
            </a:r>
          </a:p>
          <a:p>
            <a:r>
              <a:t>Speaker note 22: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验收第23页独立备注。</a:t>
            </a:r>
          </a:p>
          <a:p>
            <a:r>
              <a:t>Speaker note 23: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验收第24页独立备注。</a:t>
            </a:r>
          </a:p>
          <a:p>
            <a:r>
              <a:t>Speaker note 24: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验收第25页独立备注。</a:t>
            </a:r>
          </a:p>
          <a:p>
            <a:r>
              <a:t>Speaker note 25: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验收第26页独立备注。</a:t>
            </a:r>
          </a:p>
          <a:p>
            <a:r>
              <a:t>Speaker note 26: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验收第27页独立备注。</a:t>
            </a:r>
          </a:p>
          <a:p>
            <a:r>
              <a:t>Speaker note 27: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验收第28页独立备注。</a:t>
            </a:r>
          </a:p>
          <a:p>
            <a:r>
              <a:t>Speaker note 28: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验收第29页独立备注。</a:t>
            </a:r>
          </a:p>
          <a:p>
            <a:r>
              <a:t>Speaker note 29: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验收第30页独立备注。</a:t>
            </a:r>
          </a:p>
          <a:p>
            <a:r>
              <a:t>Speaker note 30: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验收第31页独立备注。</a:t>
            </a:r>
          </a:p>
          <a:p>
            <a:r>
              <a:t>Speaker note 31: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验收第32页独立备注。</a:t>
            </a:r>
          </a:p>
          <a:p>
            <a:r>
              <a:t>Speaker note 32: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验收第33页独立备注。</a:t>
            </a:r>
          </a:p>
          <a:p>
            <a:r>
              <a:t>Speaker note 33: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验收第34页独立备注。</a:t>
            </a:r>
          </a:p>
          <a:p>
            <a:r>
              <a:t>Speaker note 34: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验收第35页独立备注。</a:t>
            </a:r>
          </a:p>
          <a:p>
            <a:r>
              <a:t>Speaker note 35: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验收第36页独立备注。</a:t>
            </a:r>
          </a:p>
          <a:p>
            <a:r>
              <a:t>Speaker note 36: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验收第37页独立备注。</a:t>
            </a:r>
          </a:p>
          <a:p>
            <a:r>
              <a:t>Speaker note 37: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验收第38页独立备注。</a:t>
            </a:r>
          </a:p>
          <a:p>
            <a:r>
              <a:t>Speaker note 38: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验收第39页独立备注。</a:t>
            </a:r>
          </a:p>
          <a:p>
            <a:r>
              <a:t>Speaker note 39: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验收第40页独立备注。</a:t>
            </a:r>
          </a:p>
          <a:p>
            <a:r>
              <a:t>Speaker note 40: preserve editable objects.</a:t>
            </a:r>
          </a:p>
          <a:p>
            <a:r>
              <a:t>中文、English、emoji 🙂🚀；仅离线样本，未执行业务验收。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795010"/>
            <a:ext cx="121920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Office</a:t>
            </a:r>
            <a:r>
              <a:rPr lang="zh-CN" altLang="en-US"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复核01</a:t>
            </a:r>
            <a:endParaRPr lang="zh-CN" altLang="en-US"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验收01 · Slide01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从工具集合走向工作流平台的一年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验收02 · Slide02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第02页中文要点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02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第一部分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验收03 · Slide03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数据口径为财年内已确认收入，不含代理商未结算部分。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 panose="02040502050405020303"/>
                <a:ea typeface="宋体" panose="02010600030101010101" pitchFamily="2" charset="-122"/>
              </a:rPr>
              <a:t>04</a:t>
            </a:r>
            <a:endParaRPr sz="10800" b="0">
              <a:solidFill>
                <a:srgbClr val="E9E4DA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验收04 · Slide04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04.2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指标2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核对04-2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04.3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指标3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核对04-3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04.4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指标4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核对04-4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验收05 · Slide05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订阅收入连续四个季度环比增长，服务收入基本持平。Q4 的跃升主要来自两家大型制造业客户的集中签约。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策略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验收06 · Slide06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卡片06A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中文正文 Edit 06A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卡片06B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English body 06B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 核对注06：Editable callout </a:t>
            </a: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100" b="1" i="0" spc="160">
              <a:solidFill>
                <a:srgbClr val="B4432B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验收07 · Slide07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第07页中文要点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07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290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885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1440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503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960" y="711175"/>
            <a:ext cx="5120640" cy="1165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验收08 · Slide08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6960" y="2057400"/>
            <a:ext cx="5120640" cy="401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第08页中文要点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08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8685" y="1865376"/>
            <a:ext cx="14630" cy="4203954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验收09 · Slide09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我们的优势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876800" cy="3545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第09页中文要点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09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1865376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面临的压力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4876800" cy="3545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第09页中文要点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09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验收10 · Slide10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865376"/>
          <a:ext cx="103632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4400"/>
                <a:gridCol w="3454400"/>
                <a:gridCol w="3454400"/>
              </a:tblGrid>
              <a:tr h="1371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核对项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值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English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第10页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456.75</a:t>
                      </a:r>
                      <a:endParaRPr lang="en-US" altLang="zh-CN"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Editable cell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中文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ID-10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🙂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600450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8768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结论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853440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验收11 · Slide11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771900"/>
            <a:ext cx="877824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第11页中文要点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11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年度业务复盘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验收12 · Slide12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从工具集合走向工作流平台的一年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4990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验收13 · Slide13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第13页中文要点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13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第一部分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验收14 · Slide14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数据口径为财年内已确认收入，不含代理商未结算部分。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 panose="02040502050405020303"/>
                <a:ea typeface="宋体" panose="02010600030101010101" pitchFamily="2" charset="-122"/>
              </a:rPr>
              <a:t>15</a:t>
            </a:r>
            <a:endParaRPr sz="10800" b="0">
              <a:solidFill>
                <a:srgbClr val="E9E4DA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104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768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验收15 · Slide15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15.2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指标2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核对15-2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15.3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指标3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核对15-3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15.4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指标4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核对15-4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验收16 · Slide16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订阅收入连续四个季度环比增长，服务收入基本持平。Q4 的跃升主要来自两家大型制造业客户的集中签约。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策略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验收17 · Slide17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卡片17A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中文正文 Edit 17A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卡片17B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English body 17B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 核对注17：Editable callout </a:t>
            </a: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100" b="1" i="0" spc="160">
              <a:solidFill>
                <a:srgbClr val="B4432B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验收18 · Slide18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第18页中文要点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18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290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885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1440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503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960" y="711175"/>
            <a:ext cx="5120640" cy="1165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验收19 · Slide19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6960" y="2057400"/>
            <a:ext cx="5120640" cy="401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第19页中文要点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19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验收20 · Slide20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我们的优势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523744"/>
            <a:ext cx="4876800" cy="3545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第20页中文要点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20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865376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面临的压力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2523744"/>
            <a:ext cx="4876800" cy="3545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第20页中文要点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20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验收21 · Slide21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865376"/>
          <a:ext cx="103632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4400"/>
                <a:gridCol w="3454400"/>
                <a:gridCol w="3454400"/>
              </a:tblGrid>
              <a:tr h="1371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核对项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值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English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第21页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123.50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Editable cell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中文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ID-21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🙂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768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结论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853440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验收22 · Slide22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771900"/>
            <a:ext cx="877824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第22页中文要点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22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795010"/>
            <a:ext cx="121920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年度业务复盘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验收23 · Slide23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从工具集合走向工作流平台的一年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验收24 · Slide24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第24页中文要点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24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第一部分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验收25 · Slide25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数据口径为财年内已确认收入，不含代理商未结算部分。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 panose="02040502050405020303"/>
                <a:ea typeface="宋体" panose="02010600030101010101" pitchFamily="2" charset="-122"/>
              </a:rPr>
              <a:t>26</a:t>
            </a:r>
            <a:endParaRPr sz="10800" b="0">
              <a:solidFill>
                <a:srgbClr val="E9E4DA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验收26 · Slide26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26.2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指标2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核对26-2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26.3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指标3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核对26-3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26.4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指标4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核对26-4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验收27 · Slide27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订阅收入连续四个季度环比增长，服务收入基本持平。Q4 的跃升主要来自两家大型制造业客户的集中签约。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策略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验收28 · Slide28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卡片28A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中文正文 Edit 28A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卡片28B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English body 28B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 核对注28：Editable callout </a:t>
            </a: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100" b="1" i="0" spc="160">
              <a:solidFill>
                <a:srgbClr val="B4432B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验收29 · Slide29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第29页中文要点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29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290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885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1440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503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960" y="711175"/>
            <a:ext cx="5120640" cy="1165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验收30 · Slide30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6960" y="2057400"/>
            <a:ext cx="5120640" cy="401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第30页中文要点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30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8685" y="1865376"/>
            <a:ext cx="14630" cy="4203954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验收31 · Slide31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我们的优势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876800" cy="3545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第31页中文要点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31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1865376"/>
            <a:ext cx="4876800" cy="514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面临的压力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4876800" cy="3545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第31页中文要点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31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验收32 · Slide32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865376"/>
          <a:ext cx="103632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4400"/>
                <a:gridCol w="3454400"/>
                <a:gridCol w="3454400"/>
              </a:tblGrid>
              <a:tr h="1371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核对项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值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917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English</a:t>
                      </a:r>
                      <a:endParaRPr sz="1300" b="1" i="0">
                        <a:solidFill>
                          <a:srgbClr val="1A1917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B4432B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第32页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123.50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Editable cell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中文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ID-32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4A463E"/>
                          </a:solidFill>
                          <a:latin typeface="Arial" panose="020B0604020202020204"/>
                          <a:ea typeface="微软雅黑" panose="020B0503020204020204" charset="-122"/>
                        </a:rPr>
                        <a:t>🙂</a:t>
                      </a:r>
                      <a:endParaRPr sz="1300" b="0" i="0">
                        <a:solidFill>
                          <a:srgbClr val="4A463E"/>
                        </a:solidFill>
                        <a:latin typeface="Arial" panose="020B0604020202020204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E2DCD0"/>
                      </a:solidFill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600450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8768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结论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853440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验收33 · Slide33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771900"/>
            <a:ext cx="877824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第33页中文要点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33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6705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年度业务复盘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50317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验收34 · Slide34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3205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从工具集合走向工作流平台的一年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4990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验收35 · Slide35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363200" cy="4251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第35页中文要点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35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03170"/>
            <a:ext cx="36576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第一部分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2914650"/>
            <a:ext cx="8778240" cy="171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5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验收36 · Slide36 </a:t>
            </a:r>
            <a:r>
              <a:rPr sz="5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5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480060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数据口径为财年内已确认收入，不含代理商未结算部分。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 panose="02040502050405020303"/>
                <a:ea typeface="宋体" panose="02010600030101010101" pitchFamily="2" charset="-122"/>
              </a:rPr>
              <a:t>37</a:t>
            </a:r>
            <a:endParaRPr sz="10800" b="0">
              <a:solidFill>
                <a:srgbClr val="E9E4DA"/>
              </a:solidFill>
              <a:latin typeface="Georgia" panose="02040502050405020303"/>
              <a:ea typeface="宋体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1584198"/>
            <a:ext cx="10363200" cy="13030"/>
          </a:xfrm>
          <a:prstGeom prst="rect">
            <a:avLst/>
          </a:prstGeom>
          <a:solidFill>
            <a:srgbClr val="E2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104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7680" y="2880360"/>
            <a:ext cx="3169920" cy="342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验收37 · Slide37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220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37.2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指标2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核对37-2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884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37.3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指标3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核对37-3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5480" y="3263900"/>
            <a:ext cx="281432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 panose="02040502050405020303"/>
                <a:ea typeface="宋体" panose="02010600030101010101" pitchFamily="2" charset="-122"/>
              </a:rPr>
              <a:t>37.4</a:t>
            </a:r>
            <a:endParaRPr sz="4600" b="0" i="0">
              <a:solidFill>
                <a:srgbClr val="B4432B"/>
              </a:solidFill>
              <a:latin typeface="Georgia" panose="02040502050405020303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 panose="020B0604020202020204"/>
                <a:ea typeface="微软雅黑" panose="020B0503020204020204" charset="-122"/>
              </a:rPr>
              <a:t>指标4 Metric</a:t>
            </a:r>
            <a:endParaRPr sz="1400" b="1" i="0">
              <a:solidFill>
                <a:srgbClr val="1A1917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 panose="020B0604020202020204"/>
                <a:ea typeface="微软雅黑" panose="020B0503020204020204" charset="-122"/>
              </a:rPr>
              <a:t>核对37-4 </a:t>
            </a:r>
            <a:r>
              <a:rPr sz="1200" b="0" i="0">
                <a:solidFill>
                  <a:srgbClr val="8A8478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200" b="0" i="0">
              <a:solidFill>
                <a:srgbClr val="8A8478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11175"/>
            <a:ext cx="10363200" cy="788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验收38 · Slide38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1865376"/>
          <a:ext cx="7315200" cy="4203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1865376"/>
            <a:ext cx="2682240" cy="3771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订阅收入连续四个季度环比增长，服务收入基本持平。Q4 的跃升主要来自两家大型制造业客户的集中签约。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0400" y="2271143"/>
            <a:ext cx="10871200" cy="3159185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493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策略</a:t>
            </a:r>
            <a:endParaRPr sz="1100" b="1" i="0" spc="160">
              <a:solidFill>
                <a:srgbClr val="B4432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" y="1204823"/>
            <a:ext cx="10871200" cy="8885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验收39 · Slide39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28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卡片39A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中文正文 Edit 39A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7600" y="2423543"/>
            <a:ext cx="5181600" cy="2854385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0" y="2575943"/>
            <a:ext cx="4876800" cy="2549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🚀</a:t>
            </a:r>
            <a:r>
              <a:rPr sz="1900" b="1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 卡片39B</a:t>
            </a:r>
            <a:endParaRPr sz="1900" b="1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English body 39B</a:t>
            </a:r>
            <a:endParaRPr sz="15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0400" y="5608128"/>
            <a:ext cx="10871200" cy="691072"/>
          </a:xfrm>
          <a:prstGeom prst="roundRect">
            <a:avLst>
              <a:gd name="adj" fmla="val 14701"/>
            </a:avLst>
          </a:prstGeom>
          <a:solidFill>
            <a:srgbClr val="FC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5722428"/>
            <a:ext cx="10566400" cy="462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r>
              <a:rPr sz="1100" b="1" i="0" spc="160">
                <a:solidFill>
                  <a:srgbClr val="B4432B"/>
                </a:solidFill>
                <a:latin typeface="Arial" panose="020B0604020202020204"/>
                <a:ea typeface="微软雅黑" panose="020B0503020204020204" charset="-122"/>
              </a:rPr>
              <a:t> 核对注39：Editable callout </a:t>
            </a:r>
            <a:r>
              <a:rPr sz="1100" b="1" i="0" spc="160">
                <a:solidFill>
                  <a:srgbClr val="B4432B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1100" b="1" i="0" spc="160">
              <a:solidFill>
                <a:srgbClr val="B4432B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11175"/>
            <a:ext cx="5120640" cy="1165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 panose="02040502050405020303"/>
                <a:ea typeface="宋体" panose="02010600030101010101" pitchFamily="2" charset="-122"/>
              </a:rPr>
              <a:t>验收40 · Slide40 </a:t>
            </a:r>
            <a:r>
              <a:rPr sz="3400" b="0" i="0">
                <a:solidFill>
                  <a:srgbClr val="1A1917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</a:t>
            </a:r>
            <a:endParaRPr sz="3400" b="0" i="0">
              <a:solidFill>
                <a:srgbClr val="1A1917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120640" cy="4011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第40页中文要点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Editable bullet 40</a:t>
            </a:r>
            <a:endParaRPr sz="1600" b="0" i="0">
              <a:solidFill>
                <a:srgbClr val="4A463E"/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 panose="020B0604020202020204"/>
              <a:buChar char="—"/>
            </a:pPr>
            <a:r>
              <a:rPr sz="1600" b="0" i="0">
                <a:solidFill>
                  <a:srgbClr val="4A463E"/>
                </a:solidFill>
                <a:latin typeface="Arial" panose="020B0604020202020204"/>
                <a:ea typeface="微软雅黑" panose="020B0503020204020204" charset="-122"/>
              </a:rPr>
              <a:t>Unicode </a:t>
            </a:r>
            <a:r>
              <a:rPr sz="1600" b="0" i="0">
                <a:solidFill>
                  <a:srgbClr val="4A463E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🙂🚀</a:t>
            </a:r>
            <a:endParaRPr sz="1600" b="0" i="0">
              <a:solidFill>
                <a:srgbClr val="4A463E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44640" y="711175"/>
            <a:ext cx="4632960" cy="5435651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3142" y="928601"/>
            <a:ext cx="2594458" cy="1848121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9098" y="1254740"/>
            <a:ext cx="1667866" cy="108713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44640" y="2885435"/>
            <a:ext cx="4632960" cy="3261390"/>
          </a:xfrm>
          <a:custGeom>
            <a:avLst/>
            <a:gdLst/>
            <a:ahLst/>
            <a:cxnLst/>
            <a:rect l="l" t="t" r="r" b="b"/>
            <a:pathLst>
              <a:path w="4632960" h="3261390">
                <a:moveTo>
                  <a:pt x="0" y="2065547"/>
                </a:moveTo>
                <a:lnTo>
                  <a:pt x="1575206" y="652278"/>
                </a:lnTo>
                <a:lnTo>
                  <a:pt x="2687117" y="1630695"/>
                </a:lnTo>
                <a:lnTo>
                  <a:pt x="4632960" y="0"/>
                </a:lnTo>
                <a:lnTo>
                  <a:pt x="4632960" y="3261390"/>
                </a:lnTo>
                <a:lnTo>
                  <a:pt x="0" y="326139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5277" y="5385834"/>
            <a:ext cx="833933" cy="65228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2589</Words>
  <Application>WPS 演示</Application>
  <PresentationFormat>On-screen Show (4:3)</PresentationFormat>
  <Paragraphs>368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0" baseType="lpstr">
      <vt:lpstr>Arial</vt:lpstr>
      <vt:lpstr>宋体</vt:lpstr>
      <vt:lpstr>Wingdings</vt:lpstr>
      <vt:lpstr>Arial</vt:lpstr>
      <vt:lpstr>微软雅黑</vt:lpstr>
      <vt:lpstr>Georgia</vt:lpstr>
      <vt:lpstr>Segoe UI Emoji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谢捷</cp:lastModifiedBy>
  <cp:revision>5</cp:revision>
  <dcterms:created xsi:type="dcterms:W3CDTF">2013-01-27T09:14:00Z</dcterms:created>
  <dcterms:modified xsi:type="dcterms:W3CDTF">2026-10-02T23:39:14Z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39CBC0CEB6CF431CBBF3EF1593DB408E_12</vt:lpwstr>
  </property>
</Properties>
</file>